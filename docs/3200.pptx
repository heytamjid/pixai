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777463c94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777463c9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777463c94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777463c9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777463c94_0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777463c9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777463c9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777463c9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77463c94_0_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777463c9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777463c94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777463c9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777463c94_0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777463c9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777463c94_0_2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777463c9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77463c94_0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777463c9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777463c94_0_2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777463c9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777463c94_0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777463c9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777463c94_0_1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777463c9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777463c94_0_1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777463c9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777463c94_0_1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777463c9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777463c94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777463c94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777463c9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777463c9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777463c94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777463c94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777463c9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777463c9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777463c94_0_1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777463c9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777463c9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777463c9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777463c9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777463c9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777463c94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777463c94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PIXAI: Political Image </a:t>
            </a:r>
            <a:br>
              <a:rPr lang="en"/>
            </a:br>
            <a:r>
              <a:rPr lang="en"/>
              <a:t>Cross Attention Inference 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Multimodal Framework for Code-Mixed Bangla Political Meme Classification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3674550"/>
            <a:ext cx="822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Author:</a:t>
            </a:r>
            <a:r>
              <a:rPr lang="en" sz="1100">
                <a:solidFill>
                  <a:schemeClr val="lt1"/>
                </a:solidFill>
              </a:rPr>
              <a:t> Tamjid Hasan Fahim (Roll: 2103052)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Supervisor:</a:t>
            </a:r>
            <a:r>
              <a:rPr lang="en" sz="1100">
                <a:solidFill>
                  <a:schemeClr val="lt1"/>
                </a:solidFill>
              </a:rPr>
              <a:t> Utsha Das, Assistant Professor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Department of Computer Science &amp; Engineering, RUET. 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47250" y="145300"/>
            <a:ext cx="7401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900" y="0"/>
            <a:ext cx="823800" cy="9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98100" y="5979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CSE 3200: Software Development Project 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The problem: Challenges in Meme Classification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  <p:sp>
        <p:nvSpPr>
          <p:cNvPr id="96" name="Google Shape;96;p14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Semantic Gap in Multimodality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14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Image and text analyzed in isolation miss implicit reasoning.</a:t>
            </a:r>
            <a:endParaRPr sz="1600"/>
          </a:p>
        </p:txBody>
      </p:sp>
      <p:sp>
        <p:nvSpPr>
          <p:cNvPr id="99" name="Google Shape;99;p14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Linguistic Complexity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Bengali-English code-mixing ("Banglish") breaks traditional OCR systems</a:t>
            </a:r>
            <a:endParaRPr sz="1600"/>
          </a:p>
        </p:txBody>
      </p:sp>
      <p:sp>
        <p:nvSpPr>
          <p:cNvPr id="102" name="Google Shape;102;p14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Visual Noise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Compression artifacts, watermarks, non-standard fonts degrade feature extraction.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Motivation: Why It Matters</a:t>
            </a:r>
            <a:endParaRPr sz="2500"/>
          </a:p>
        </p:txBody>
      </p:sp>
      <p:sp>
        <p:nvSpPr>
          <p:cNvPr id="110" name="Google Shape;110;p15"/>
          <p:cNvSpPr txBox="1"/>
          <p:nvPr/>
        </p:nvSpPr>
        <p:spPr>
          <a:xfrm>
            <a:off x="311700" y="1129100"/>
            <a:ext cx="8371500" cy="3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Technical Gap: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Existing models fail on </a:t>
            </a:r>
            <a:r>
              <a:rPr b="1" lang="en" sz="1600"/>
              <a:t>low-resource</a:t>
            </a:r>
            <a:r>
              <a:rPr lang="en" sz="1600"/>
              <a:t>, </a:t>
            </a:r>
            <a:r>
              <a:rPr b="1" lang="en" sz="1600"/>
              <a:t>code-mixed </a:t>
            </a:r>
            <a:r>
              <a:rPr lang="en" sz="1600"/>
              <a:t>languages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Simple concatenation-based fusion insufficient for </a:t>
            </a:r>
            <a:r>
              <a:rPr b="1" lang="en" sz="1600"/>
              <a:t>nuanced reasoning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Traditional OCR </a:t>
            </a:r>
            <a:r>
              <a:rPr b="1" lang="en" sz="1600"/>
              <a:t>inadequate for noisy</a:t>
            </a:r>
            <a:r>
              <a:rPr lang="en" sz="1600"/>
              <a:t> meme text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Societal Impact: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Making computational models understand the social phenomena of political discourse.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Content moderation at scale for social media platforms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Understanding political narrative propagation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Objectives</a:t>
            </a:r>
            <a:endParaRPr sz="2500"/>
          </a:p>
        </p:txBody>
      </p:sp>
      <p:sp>
        <p:nvSpPr>
          <p:cNvPr id="116" name="Google Shape;116;p16"/>
          <p:cNvSpPr txBox="1"/>
          <p:nvPr/>
        </p:nvSpPr>
        <p:spPr>
          <a:xfrm>
            <a:off x="311700" y="1129100"/>
            <a:ext cx="8371500" cy="3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Granular Multimodal Extraction:</a:t>
            </a:r>
            <a:r>
              <a:rPr lang="en" sz="1600"/>
              <a:t> VLM-based transcription of code-mixed text with noise filtering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Robust Text Normalization:</a:t>
            </a:r>
            <a:r>
              <a:rPr lang="en" sz="1600"/>
              <a:t> Comprehensive cleaning pipeline for internet text entropy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PIXAI Architecture Development:</a:t>
            </a:r>
            <a:r>
              <a:rPr lang="en" sz="1600"/>
              <a:t> Novel cross-attention mechanism for visual-textual fusion.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Why not Unimodal?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Why not Early Fusion?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Why not Late Fusion?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Real-Time Deployment:</a:t>
            </a:r>
            <a:r>
              <a:rPr lang="en" sz="1600"/>
              <a:t> Production-ready web API with asynchronous processing</a:t>
            </a:r>
            <a:endParaRPr b="1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Dataset Overview</a:t>
            </a:r>
            <a:endParaRPr sz="2500"/>
          </a:p>
        </p:txBody>
      </p:sp>
      <p:sp>
        <p:nvSpPr>
          <p:cNvPr id="122" name="Google Shape;122;p17"/>
          <p:cNvSpPr txBox="1"/>
          <p:nvPr/>
        </p:nvSpPr>
        <p:spPr>
          <a:xfrm>
            <a:off x="311700" y="1129100"/>
            <a:ext cx="83715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Meme Decode Dataset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Total Samples:</a:t>
            </a:r>
            <a:r>
              <a:rPr lang="en" sz="1600"/>
              <a:t> 2,860 code-mixed Bengali memes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Training Set:</a:t>
            </a:r>
            <a:r>
              <a:rPr lang="en" sz="1600"/>
              <a:t> 2,002 samples (70%)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Validation Set:</a:t>
            </a:r>
            <a:r>
              <a:rPr lang="en" sz="1600"/>
              <a:t> 429 samples (15%)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Test Set:</a:t>
            </a:r>
            <a:r>
              <a:rPr lang="en" sz="1600"/>
              <a:t> 429 samples (15%)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Class Distribution: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Non-Political: 2,007 samples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Political: 853 samples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i="1" lang="en" sz="1600"/>
              <a:t>Weighted loss</a:t>
            </a:r>
            <a:r>
              <a:rPr b="1" i="1" lang="en" sz="1600"/>
              <a:t> (pos_weight </a:t>
            </a:r>
            <a:r>
              <a:rPr lang="en" sz="1600"/>
              <a:t>= 2007/853 = 2.35</a:t>
            </a:r>
            <a:r>
              <a:rPr b="1" i="1" lang="en" sz="1600"/>
              <a:t>) </a:t>
            </a:r>
            <a:r>
              <a:rPr lang="en" sz="1600"/>
              <a:t>applied to handle imbalance instead of other techniques (i.e. data augmentation, </a:t>
            </a:r>
            <a:r>
              <a:rPr lang="en" sz="1600"/>
              <a:t>resampling etc</a:t>
            </a:r>
            <a:r>
              <a:rPr lang="en" sz="1600"/>
              <a:t>) to keep the normal distribution.  </a:t>
            </a:r>
            <a:endParaRPr b="1" sz="1600"/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424" y="1296223"/>
            <a:ext cx="3110774" cy="221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Overview</a:t>
            </a:r>
            <a:endParaRPr sz="2500"/>
          </a:p>
        </p:txBody>
      </p:sp>
      <p:sp>
        <p:nvSpPr>
          <p:cNvPr id="129" name="Google Shape;129;p18"/>
          <p:cNvSpPr txBox="1"/>
          <p:nvPr/>
        </p:nvSpPr>
        <p:spPr>
          <a:xfrm>
            <a:off x="311700" y="1129100"/>
            <a:ext cx="83715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Granular Multimodal Extraction:</a:t>
            </a:r>
            <a:r>
              <a:rPr lang="en" sz="1600"/>
              <a:t> VLM-based transcription of code-mixed text with noise filtering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Robust Text Normalization:</a:t>
            </a:r>
            <a:r>
              <a:rPr lang="en" sz="1600"/>
              <a:t> Comprehensive cleaning pipeline for internet text entropy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PIXAI Architecture Development:</a:t>
            </a:r>
            <a:r>
              <a:rPr lang="en" sz="1600"/>
              <a:t> Novel cross-attention mechanism for visual-textual fusion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Real-Time Deployment:</a:t>
            </a:r>
            <a:r>
              <a:rPr lang="en" sz="1600"/>
              <a:t> Production-ready web API with asynchronous processing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1127" l="-1294" r="3933" t="0"/>
          <a:stretch/>
        </p:blipFill>
        <p:spPr>
          <a:xfrm>
            <a:off x="1215338" y="56713"/>
            <a:ext cx="6713325" cy="503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- </a:t>
            </a:r>
            <a:r>
              <a:rPr lang="en" sz="2500"/>
              <a:t>VLM Text Extraction</a:t>
            </a:r>
            <a:endParaRPr sz="2500"/>
          </a:p>
        </p:txBody>
      </p:sp>
      <p:sp>
        <p:nvSpPr>
          <p:cNvPr id="140" name="Google Shape;140;p20"/>
          <p:cNvSpPr txBox="1"/>
          <p:nvPr/>
        </p:nvSpPr>
        <p:spPr>
          <a:xfrm>
            <a:off x="311700" y="1129100"/>
            <a:ext cx="83715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Traditional OCR (Tesseract):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i="1" lang="en" sz="1600"/>
              <a:t>Dumb p</a:t>
            </a:r>
            <a:r>
              <a:rPr b="1" i="1" lang="en" sz="1600"/>
              <a:t>attern recognition</a:t>
            </a:r>
            <a:r>
              <a:rPr b="1" lang="en" sz="1600"/>
              <a:t>. No semantic understanding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Fails on mixed scripts, stylized fonts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Cannot handle visual noise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Terrible accuracy for memes, more suitable for low-noise clear documents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Our VLM Approach (Qwen/Gemini):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Semantic</a:t>
            </a:r>
            <a:r>
              <a:rPr b="1" lang="en" sz="1600"/>
              <a:t> </a:t>
            </a:r>
            <a:r>
              <a:rPr b="1" lang="en" sz="1600"/>
              <a:t>understanding.</a:t>
            </a:r>
            <a:r>
              <a:rPr lang="en" sz="1600"/>
              <a:t> Knows </a:t>
            </a:r>
            <a:r>
              <a:rPr lang="en" sz="1600"/>
              <a:t>what it is extracting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Accuracy: &gt;90% extraction quality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Context-aware correction of spelling errors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Handles code-mixed text naturally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Robust against stylized fonts and artifacts</a:t>
            </a:r>
            <a:endParaRPr b="1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- Text Normalization Pipeline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46" name="Google Shape;146;p21"/>
          <p:cNvSpPr txBox="1"/>
          <p:nvPr/>
        </p:nvSpPr>
        <p:spPr>
          <a:xfrm>
            <a:off x="311700" y="1129100"/>
            <a:ext cx="8371500" cy="3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Cleaning Internet Text Entropy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Noise keyword filtering (watermarks, social media handles)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Character mapping for stylized Unicode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URL, emoji, and punctuation removal via regex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NFKC Unicode normalization for Bengali script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Whitespace standardization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Result:</a:t>
            </a:r>
            <a:r>
              <a:rPr lang="en" sz="1600"/>
              <a:t> Clean, standardized input for robust classification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Hasan, T., Bhattacharjee, A., Samin, K., Hasan, M., Basak, M., Rahman, M. S., &amp; Shahriyar, R. (2020).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Not Low-Resource Anymore: Aligner Ensembling, Batch Filtering, and New Datasets for Bengali-English Machine Translation.</a:t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EMNLP 2020.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191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- Dual Cross-Attention Mechanism</a:t>
            </a:r>
            <a:endParaRPr sz="2500"/>
          </a:p>
        </p:txBody>
      </p:sp>
      <p:sp>
        <p:nvSpPr>
          <p:cNvPr id="152" name="Google Shape;152;p22"/>
          <p:cNvSpPr txBox="1"/>
          <p:nvPr/>
        </p:nvSpPr>
        <p:spPr>
          <a:xfrm>
            <a:off x="386250" y="667775"/>
            <a:ext cx="8371500" cy="4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Visual Stream:</a:t>
            </a:r>
            <a:r>
              <a:rPr lang="en" sz="1500"/>
              <a:t> CLIP (ViT-B/32) → 512D → 1024D projection (frozen). Works as static image feature extractor.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Textual Stream:</a:t>
            </a:r>
            <a:r>
              <a:rPr lang="en" sz="1500"/>
              <a:t> XGLM-564M → 1024D </a:t>
            </a:r>
            <a:r>
              <a:rPr b="1" lang="en" sz="1500"/>
              <a:t>contextual </a:t>
            </a:r>
            <a:r>
              <a:rPr lang="en" sz="1500"/>
              <a:t>embeddings.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Attention Stream I - </a:t>
            </a:r>
            <a:r>
              <a:rPr b="1" lang="en" sz="1500"/>
              <a:t>Image-Querying-Text: </a:t>
            </a:r>
            <a:br>
              <a:rPr lang="en" sz="1500"/>
            </a:br>
            <a:r>
              <a:rPr lang="en" sz="1500"/>
              <a:t>	– Query: Visual Features </a:t>
            </a:r>
            <a:br>
              <a:rPr lang="en" sz="1500"/>
            </a:br>
            <a:r>
              <a:rPr lang="en" sz="1500"/>
              <a:t>	– Key/Value: Textual Features </a:t>
            </a:r>
            <a:br>
              <a:rPr lang="en" sz="1500"/>
            </a:br>
            <a:r>
              <a:rPr lang="en" sz="1500"/>
              <a:t>	– Function: This mechanism allows the model to identify which parts of the text are  relevant to specific visual regions.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Attention Stream II - Text-Guided Visual Attention: </a:t>
            </a:r>
            <a:br>
              <a:rPr lang="en" sz="1500"/>
            </a:br>
            <a:r>
              <a:rPr lang="en" sz="1500"/>
              <a:t>	– Query: Visual Features </a:t>
            </a:r>
            <a:br>
              <a:rPr lang="en" sz="1500"/>
            </a:br>
            <a:r>
              <a:rPr lang="en" sz="1500"/>
              <a:t>	– Key: Textual Features </a:t>
            </a:r>
            <a:br>
              <a:rPr lang="en" sz="1500"/>
            </a:br>
            <a:r>
              <a:rPr lang="en" sz="1500"/>
              <a:t>	– Value: Visual Features </a:t>
            </a:r>
            <a:br>
              <a:rPr lang="en" sz="1500"/>
            </a:br>
            <a:r>
              <a:rPr lang="en" sz="1500"/>
              <a:t>	– Function: Here, the text acts as a filter (Key) to re-weight the visual features (Value). This effectively “highlights” visual regions that are semantically aligned with the text.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Classification:</a:t>
            </a:r>
            <a:r>
              <a:rPr lang="en" sz="1500"/>
              <a:t> Concatenated features (4096) → FC layers (32</a:t>
            </a:r>
            <a:r>
              <a:rPr lang="en" sz="1500"/>
              <a:t>) → Sigmoid(Output) → Label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191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- Dual Cross-Attention Mechanism (Cont’d)</a:t>
            </a:r>
            <a:endParaRPr sz="2500"/>
          </a:p>
        </p:txBody>
      </p:sp>
      <p:sp>
        <p:nvSpPr>
          <p:cNvPr id="158" name="Google Shape;158;p23"/>
          <p:cNvSpPr txBox="1"/>
          <p:nvPr/>
        </p:nvSpPr>
        <p:spPr>
          <a:xfrm>
            <a:off x="386250" y="667775"/>
            <a:ext cx="837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300" y="1083275"/>
            <a:ext cx="719137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386250" y="2571750"/>
            <a:ext cx="83715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Q (Query):</a:t>
            </a:r>
            <a:r>
              <a:rPr lang="en" sz="1600"/>
              <a:t> what the model is looking for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K (Key):</a:t>
            </a:r>
            <a:r>
              <a:rPr lang="en" sz="1600"/>
              <a:t> what the model can match against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V (Value):</a:t>
            </a:r>
            <a:r>
              <a:rPr lang="en" sz="1600"/>
              <a:t> information to be aggregated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Dot product:</a:t>
            </a:r>
            <a:r>
              <a:rPr lang="en" sz="1600"/>
              <a:t> measures similarity between queries and keys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Scaling:</a:t>
            </a:r>
            <a:r>
              <a:rPr lang="en" sz="1600"/>
              <a:t> stabilizes gradients for large dimensions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Softmax:</a:t>
            </a:r>
            <a:r>
              <a:rPr lang="en" sz="1600"/>
              <a:t> outputs a probability distribution that sums to 1.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Attention Weight:</a:t>
            </a:r>
            <a:r>
              <a:rPr lang="en" sz="1600"/>
              <a:t> signifies significance, multiplied with V to get a wegiht sum. 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191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- Training </a:t>
            </a:r>
            <a:r>
              <a:rPr lang="en" sz="2500"/>
              <a:t>Hyperparameters</a:t>
            </a:r>
            <a:endParaRPr sz="2500"/>
          </a:p>
        </p:txBody>
      </p:sp>
      <p:sp>
        <p:nvSpPr>
          <p:cNvPr id="166" name="Google Shape;166;p24"/>
          <p:cNvSpPr txBox="1"/>
          <p:nvPr/>
        </p:nvSpPr>
        <p:spPr>
          <a:xfrm>
            <a:off x="386250" y="667775"/>
            <a:ext cx="837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763" y="823913"/>
            <a:ext cx="684847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191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- Training Hyperparameters (Cont’d)</a:t>
            </a:r>
            <a:endParaRPr sz="2500"/>
          </a:p>
        </p:txBody>
      </p:sp>
      <p:sp>
        <p:nvSpPr>
          <p:cNvPr id="173" name="Google Shape;173;p25"/>
          <p:cNvSpPr txBox="1"/>
          <p:nvPr/>
        </p:nvSpPr>
        <p:spPr>
          <a:xfrm>
            <a:off x="386250" y="667775"/>
            <a:ext cx="837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3550"/>
            <a:ext cx="8839197" cy="294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/>
        </p:nvSpPr>
        <p:spPr>
          <a:xfrm>
            <a:off x="386250" y="4204625"/>
            <a:ext cx="844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Notably, Epoch 4 achieves the highest validation Macro F1-score, confirming it as the optimal checkpoint and justifying its selection for final testing and deployment.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191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Result : Model Performance</a:t>
            </a:r>
            <a:endParaRPr sz="2500"/>
          </a:p>
        </p:txBody>
      </p:sp>
      <p:sp>
        <p:nvSpPr>
          <p:cNvPr id="181" name="Google Shape;181;p26"/>
          <p:cNvSpPr txBox="1"/>
          <p:nvPr/>
        </p:nvSpPr>
        <p:spPr>
          <a:xfrm>
            <a:off x="386250" y="667775"/>
            <a:ext cx="837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82" name="Google Shape;1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575" y="667775"/>
            <a:ext cx="583882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/>
        </p:nvSpPr>
        <p:spPr>
          <a:xfrm>
            <a:off x="860700" y="2125100"/>
            <a:ext cx="7422600" cy="29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Overall accuracy:</a:t>
            </a:r>
            <a:r>
              <a:rPr lang="en"/>
              <a:t> </a:t>
            </a:r>
            <a:r>
              <a:rPr b="1" lang="en"/>
              <a:t>93.24%</a:t>
            </a:r>
            <a:r>
              <a:rPr lang="en"/>
              <a:t> on a 429-sample test set.</a:t>
            </a:r>
            <a:br>
              <a:rPr lang="en"/>
            </a:br>
            <a:r>
              <a:rPr b="1" lang="en"/>
              <a:t>Macro F1-score:</a:t>
            </a:r>
            <a:r>
              <a:rPr lang="en"/>
              <a:t> </a:t>
            </a:r>
            <a:r>
              <a:rPr b="1" lang="en"/>
              <a:t>0.9159 </a:t>
            </a:r>
            <a:r>
              <a:rPr lang="en"/>
              <a:t>confirms robustness despite class imbalance.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Non-Political class: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Very high recall (</a:t>
            </a:r>
            <a:r>
              <a:rPr b="1" lang="en"/>
              <a:t>98.01%</a:t>
            </a:r>
            <a:r>
              <a:rPr lang="en"/>
              <a:t>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Neutral content is rarely misclassified or over-flagged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Political class: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 precision (</a:t>
            </a:r>
            <a:r>
              <a:rPr b="1" lang="en"/>
              <a:t>94.59%</a:t>
            </a:r>
            <a:r>
              <a:rPr lang="en"/>
              <a:t>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flagged as political, predictions are usually correct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Lower recall (</a:t>
            </a:r>
            <a:r>
              <a:rPr b="1" lang="en"/>
              <a:t>82.03%</a:t>
            </a:r>
            <a:r>
              <a:rPr lang="en"/>
              <a:t>) reflects a </a:t>
            </a:r>
            <a:r>
              <a:rPr b="1" lang="en"/>
              <a:t>precision-first design choice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191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Result : Model Performance (Cont’d)</a:t>
            </a:r>
            <a:endParaRPr sz="2500"/>
          </a:p>
        </p:txBody>
      </p:sp>
      <p:sp>
        <p:nvSpPr>
          <p:cNvPr id="189" name="Google Shape;189;p27"/>
          <p:cNvSpPr txBox="1"/>
          <p:nvPr/>
        </p:nvSpPr>
        <p:spPr>
          <a:xfrm>
            <a:off x="386250" y="667775"/>
            <a:ext cx="837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0" name="Google Shape;190;p27"/>
          <p:cNvSpPr txBox="1"/>
          <p:nvPr/>
        </p:nvSpPr>
        <p:spPr>
          <a:xfrm>
            <a:off x="386250" y="1083275"/>
            <a:ext cx="3466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True Negatives: 295 (correctly identified non-political)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True Positives: 105 (correctly identified political)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False Positives: 6 </a:t>
            </a:r>
            <a:r>
              <a:rPr b="1" lang="en" sz="1600"/>
              <a:t>(minimal over-censorship)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False Negatives: 23 </a:t>
            </a:r>
            <a:r>
              <a:rPr b="1" lang="en" sz="1600"/>
              <a:t>(subtle satire detection challenge)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Trade-off:</a:t>
            </a:r>
            <a:r>
              <a:rPr lang="en" sz="1600"/>
              <a:t> High precision prioritized for safe deployment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497" y="798900"/>
            <a:ext cx="4675262" cy="416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Architecture - Deployment of the Trained Model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97" name="Google Shape;197;p28"/>
          <p:cNvSpPr txBox="1"/>
          <p:nvPr/>
        </p:nvSpPr>
        <p:spPr>
          <a:xfrm>
            <a:off x="311700" y="1129100"/>
            <a:ext cx="83715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Production-Ready FastAPI Backend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Features: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Asynchronous request handling (async/await)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4-bit quantization for consumer GPU deployment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Singleton pattern for model loading (lifespan context)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Structured API contracts with Pydantic validation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Performance: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Inference Latency: 2.5-4 seconds per image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VRAM Usage: ~7GB with quantization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Concurrent request support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 Integration Workflow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03" name="Google Shape;203;p29"/>
          <p:cNvSpPr txBox="1"/>
          <p:nvPr/>
        </p:nvSpPr>
        <p:spPr>
          <a:xfrm>
            <a:off x="311700" y="1129100"/>
            <a:ext cx="8371500" cy="3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End-to-End Pipeline: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User Upload:</a:t>
            </a:r>
            <a:r>
              <a:rPr lang="en" sz="1600"/>
              <a:t> Drag-and-drop image via web interface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Text Extraction:</a:t>
            </a:r>
            <a:r>
              <a:rPr lang="en" sz="1600"/>
              <a:t> VLM-based OCR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Normalization:</a:t>
            </a:r>
            <a:r>
              <a:rPr lang="en" sz="1600"/>
              <a:t> Clean and standardize extracted text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Classification:</a:t>
            </a:r>
            <a:r>
              <a:rPr lang="en" sz="1600"/>
              <a:t> Trained PIXAI model inference with CLIP for the uploaded image + XGLM for the normalized extracted text.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Response:</a:t>
            </a:r>
            <a:r>
              <a:rPr lang="en" sz="1600"/>
              <a:t> JSON output with confidence scores and probabilities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All orchestrated through FastAPI controller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2739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Deployed</a:t>
            </a:r>
            <a:r>
              <a:rPr lang="en"/>
              <a:t> System Screenshots</a:t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1017800"/>
            <a:ext cx="64579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422325" y="2267850"/>
            <a:ext cx="50220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Correctly Classified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Political </a:t>
            </a:r>
            <a:r>
              <a:rPr lang="en"/>
              <a:t>Meme</a:t>
            </a:r>
            <a:endParaRPr/>
          </a:p>
        </p:txBody>
      </p:sp>
      <p:pic>
        <p:nvPicPr>
          <p:cNvPr id="215" name="Google Shape;2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725" y="68025"/>
            <a:ext cx="3203200" cy="500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422325" y="2267850"/>
            <a:ext cx="50220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Correctly Classified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Non-Political</a:t>
            </a:r>
            <a:r>
              <a:rPr lang="en"/>
              <a:t> Meme</a:t>
            </a:r>
            <a:endParaRPr/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743" y="0"/>
            <a:ext cx="393326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422325" y="207175"/>
            <a:ext cx="50220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Misclassified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Political</a:t>
            </a:r>
            <a:r>
              <a:rPr lang="en"/>
              <a:t> Meme</a:t>
            </a:r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422325" y="1264500"/>
            <a:ext cx="5210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Evolving</a:t>
            </a:r>
            <a:r>
              <a:rPr lang="en" sz="1600"/>
              <a:t> </a:t>
            </a:r>
            <a:r>
              <a:rPr lang="en" sz="1600"/>
              <a:t>political narratives, new symbols and slang emerge constantly.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Subtle, implicit political cues embedded within context-dependent </a:t>
            </a:r>
            <a:r>
              <a:rPr lang="en" sz="1600"/>
              <a:t>scenarios</a:t>
            </a:r>
            <a:r>
              <a:rPr lang="en" sz="1600"/>
              <a:t> 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Sarcasm and irony obscure intent.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Static models lack adaptability.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Lowering the threshold for </a:t>
            </a:r>
            <a:r>
              <a:rPr i="1" lang="en" sz="1600"/>
              <a:t>political </a:t>
            </a:r>
            <a:r>
              <a:rPr lang="en" sz="1600"/>
              <a:t>class might help.</a:t>
            </a:r>
            <a:endParaRPr sz="1600"/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291" y="0"/>
            <a:ext cx="351171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Key Contributions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34" name="Google Shape;234;p34"/>
          <p:cNvSpPr txBox="1"/>
          <p:nvPr/>
        </p:nvSpPr>
        <p:spPr>
          <a:xfrm>
            <a:off x="311700" y="1129100"/>
            <a:ext cx="8371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First dedicated code-mixed political meme classifier for low-resource Bengali language.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Novel VLM-based extraction pipeline replacing traditional OCR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Dual cross-attention architecture for explicit multimodal reasoning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Production-ready deployment with asynchronous FastAPI backend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Established baseline: 93.24% accuracy, 0.9159 Macro F1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and Future Work</a:t>
            </a:r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311700" y="1194700"/>
            <a:ext cx="86607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Static modeling in dynamic political landscape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Binary classification only (no satire/propaganda/sentiment detection)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2-4 second latency limits high-throughput scenarios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Explainable AI with attention map visualization for trustworthiness.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46" name="Google Shape;246;p36"/>
          <p:cNvSpPr txBox="1"/>
          <p:nvPr/>
        </p:nvSpPr>
        <p:spPr>
          <a:xfrm>
            <a:off x="311700" y="1194700"/>
            <a:ext cx="86607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PIXAI successfully demonstrates: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Automated political meme classification for Bengali code-mixed content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VLM-based extraction overcomes traditional OCR limitations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Cross-attention fusion enables nuanced multimodal reasoning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Real-time deployment achieves 93.24% accuracy with high precision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Significance:</a:t>
            </a:r>
            <a:r>
              <a:rPr lang="en" sz="1600"/>
              <a:t> First computational framework for low-resource political discourse analysis in Bengali digital spaces.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